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3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_leak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914400"/>
            <a:ext cx="4434840" cy="431596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960120"/>
            <a:ext cx="5715000" cy="1783080"/>
          </a:xfrm>
          <a:prstGeom prst="roundRect">
            <a:avLst/>
          </a:prstGeom>
          <a:solidFill>
            <a:srgbClr val="263746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PAPER LEAKS</a:t>
            </a:r>
            <a:br/>
            <a:r>
              <a:t>IN RECENT TIMES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99232"/>
            <a:ext cx="5715000" cy="1097280"/>
          </a:xfrm>
          <a:prstGeom prst="roundRect">
            <a:avLst/>
          </a:prstGeom>
          <a:solidFill>
            <a:srgbClr val="374B5A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l">
              <a:defRPr sz="1600" b="0">
                <a:solidFill>
                  <a:srgbClr val="D8E5EE"/>
                </a:solidFill>
              </a:defRPr>
            </a:pPr>
            <a:r>
              <a:t>A current-affairs presentation on exam integrity, the NEET-UG 2026 case, and prevention.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89120"/>
            <a:ext cx="2697480" cy="713232"/>
          </a:xfrm>
          <a:prstGeom prst="roundRect">
            <a:avLst/>
          </a:prstGeom>
          <a:solidFill>
            <a:srgbClr val="DEEDF9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>
              <a:defRPr sz="1250" b="1">
                <a:solidFill>
                  <a:srgbClr val="263746"/>
                </a:solidFill>
              </a:defRPr>
            </a:pPr>
            <a:r>
              <a:t>EMPLOYABILITY SKILLS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4389120"/>
            <a:ext cx="2788920" cy="713232"/>
          </a:xfrm>
          <a:prstGeom prst="roundRect">
            <a:avLst/>
          </a:prstGeom>
          <a:solidFill>
            <a:srgbClr val="DFF1E9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>
              <a:defRPr sz="1150" b="1">
                <a:solidFill>
                  <a:srgbClr val="263746"/>
                </a:solidFill>
              </a:defRPr>
            </a:pPr>
            <a:r>
              <a:t>PRESENTED BY</a:t>
            </a:r>
            <a:br/>
            <a:r>
              <a:t>PRABHAT RAI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13248"/>
            <a:ext cx="10652760" cy="530352"/>
          </a:xfrm>
          <a:prstGeom prst="roundRect">
            <a:avLst/>
          </a:prstGeom>
          <a:solidFill>
            <a:srgbClr val="374B5A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FAIRNESS  •  TRUST  •  RESPONSIBILITY  •  SECURITY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6153912"/>
            <a:ext cx="10607040" cy="329184"/>
          </a:xfrm>
          <a:prstGeom prst="roundRect">
            <a:avLst/>
          </a:prstGeom>
          <a:solidFill>
            <a:srgbClr val="374B5A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>
              <a:defRPr sz="850" b="1">
                <a:solidFill>
                  <a:srgbClr val="D8E5EE"/>
                </a:solidFill>
              </a:defRPr>
            </a:pPr>
            <a:r>
              <a:t>CURRENT-AFFAIRS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0040"/>
            <a:ext cx="10908792" cy="841248"/>
          </a:xfrm>
          <a:prstGeom prst="roundRect">
            <a:avLst/>
          </a:prstGeom>
          <a:solidFill>
            <a:srgbClr val="263746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WHAT IS A PAPER LEAK?</a:t>
            </a:r>
          </a:p>
          <a:p>
            <a:pPr algn="ctr">
              <a:defRPr sz="950">
                <a:solidFill>
                  <a:srgbClr val="CDDAE3"/>
                </a:solidFill>
              </a:defRPr>
            </a:pPr>
            <a:r>
              <a:t>A clean 5W1H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246120" cy="1463040"/>
          </a:xfrm>
          <a:prstGeom prst="roundRect">
            <a:avLst/>
          </a:prstGeom>
          <a:solidFill>
            <a:srgbClr val="DEEDF9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defRPr sz="800" b="1">
                <a:solidFill>
                  <a:srgbClr val="566574"/>
                </a:solidFill>
              </a:defRPr>
            </a:pPr>
            <a:r>
              <a:t>WHAT</a:t>
            </a:r>
          </a:p>
          <a:p>
            <a:pPr>
              <a:defRPr sz="1550" b="1">
                <a:solidFill>
                  <a:srgbClr val="263746"/>
                </a:solidFill>
              </a:defRPr>
            </a:pPr>
            <a:r>
              <a:t>Unauthorized access</a:t>
            </a:r>
          </a:p>
          <a:p>
            <a:pPr>
              <a:defRPr sz="1019">
                <a:solidFill>
                  <a:srgbClr val="263746"/>
                </a:solidFill>
              </a:defRPr>
            </a:pPr>
            <a:r>
              <a:t>Exam material is obtained or circulated before the scheduled test.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417320"/>
            <a:ext cx="3246120" cy="1463040"/>
          </a:xfrm>
          <a:prstGeom prst="roundRect">
            <a:avLst/>
          </a:prstGeom>
          <a:solidFill>
            <a:srgbClr val="DFF1E9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defRPr sz="800" b="1">
                <a:solidFill>
                  <a:srgbClr val="566574"/>
                </a:solidFill>
              </a:defRPr>
            </a:pPr>
            <a:r>
              <a:t>WHO</a:t>
            </a:r>
          </a:p>
          <a:p>
            <a:pPr>
              <a:defRPr sz="1550" b="1">
                <a:solidFill>
                  <a:srgbClr val="263746"/>
                </a:solidFill>
              </a:defRPr>
            </a:pPr>
            <a:r>
              <a:t>People involved</a:t>
            </a:r>
          </a:p>
          <a:p>
            <a:pPr>
              <a:defRPr sz="1019">
                <a:solidFill>
                  <a:srgbClr val="263746"/>
                </a:solidFill>
              </a:defRPr>
            </a:pPr>
            <a:r>
              <a:t>Investigations may examine insiders, intermediaries, candidates or networks.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1417320"/>
            <a:ext cx="3246120" cy="1463040"/>
          </a:xfrm>
          <a:prstGeom prst="roundRect">
            <a:avLst/>
          </a:prstGeom>
          <a:solidFill>
            <a:srgbClr val="FAF1D3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defRPr sz="800" b="1">
                <a:solidFill>
                  <a:srgbClr val="566574"/>
                </a:solidFill>
              </a:defRPr>
            </a:pPr>
            <a:r>
              <a:t>WHEN</a:t>
            </a:r>
          </a:p>
          <a:p>
            <a:pPr>
              <a:defRPr sz="1550" b="1">
                <a:solidFill>
                  <a:srgbClr val="263746"/>
                </a:solidFill>
              </a:defRPr>
            </a:pPr>
            <a:r>
              <a:t>Before the exam</a:t>
            </a:r>
          </a:p>
          <a:p>
            <a:pPr>
              <a:defRPr sz="1019">
                <a:solidFill>
                  <a:srgbClr val="263746"/>
                </a:solidFill>
              </a:defRPr>
            </a:pPr>
            <a:r>
              <a:t>The key issue is access to confidential content before candidates sit the paper.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246120"/>
            <a:ext cx="3246120" cy="1463040"/>
          </a:xfrm>
          <a:prstGeom prst="roundRect">
            <a:avLst/>
          </a:prstGeom>
          <a:solidFill>
            <a:srgbClr val="E9E7F7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defRPr sz="800" b="1">
                <a:solidFill>
                  <a:srgbClr val="566574"/>
                </a:solidFill>
              </a:defRPr>
            </a:pPr>
            <a:r>
              <a:t>WHERE</a:t>
            </a:r>
          </a:p>
          <a:p>
            <a:pPr>
              <a:defRPr sz="1550" b="1">
                <a:solidFill>
                  <a:srgbClr val="263746"/>
                </a:solidFill>
              </a:defRPr>
            </a:pPr>
            <a:r>
              <a:t>Physical + digital</a:t>
            </a:r>
          </a:p>
          <a:p>
            <a:pPr>
              <a:defRPr sz="1019">
                <a:solidFill>
                  <a:srgbClr val="263746"/>
                </a:solidFill>
              </a:defRPr>
            </a:pPr>
            <a:r>
              <a:t>Material can move through secure rooms, phones or messaging platforms.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3246120"/>
            <a:ext cx="3246120" cy="1463040"/>
          </a:xfrm>
          <a:prstGeom prst="roundRect">
            <a:avLst/>
          </a:prstGeom>
          <a:solidFill>
            <a:srgbClr val="F9E5DD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defRPr sz="800" b="1">
                <a:solidFill>
                  <a:srgbClr val="566574"/>
                </a:solidFill>
              </a:defRPr>
            </a:pPr>
            <a:r>
              <a:t>WHY</a:t>
            </a:r>
          </a:p>
          <a:p>
            <a:pPr>
              <a:defRPr sz="1550" b="1">
                <a:solidFill>
                  <a:srgbClr val="263746"/>
                </a:solidFill>
              </a:defRPr>
            </a:pPr>
            <a:r>
              <a:t>Why it happens</a:t>
            </a:r>
          </a:p>
          <a:p>
            <a:pPr>
              <a:defRPr sz="1019">
                <a:solidFill>
                  <a:srgbClr val="263746"/>
                </a:solidFill>
              </a:defRPr>
            </a:pPr>
            <a:r>
              <a:t>Possible motives include money, unfair advantage or organized cheating.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3246120"/>
            <a:ext cx="3246120" cy="1463040"/>
          </a:xfrm>
          <a:prstGeom prst="roundRect">
            <a:avLst/>
          </a:prstGeom>
          <a:solidFill>
            <a:srgbClr val="DEEDF9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defRPr sz="800" b="1">
                <a:solidFill>
                  <a:srgbClr val="566574"/>
                </a:solidFill>
              </a:defRPr>
            </a:pPr>
            <a:r>
              <a:t>HOW</a:t>
            </a:r>
          </a:p>
          <a:p>
            <a:pPr>
              <a:defRPr sz="1550" b="1">
                <a:solidFill>
                  <a:srgbClr val="263746"/>
                </a:solidFill>
              </a:defRPr>
            </a:pPr>
            <a:r>
              <a:t>How to prevent it</a:t>
            </a:r>
          </a:p>
          <a:p>
            <a:pPr>
              <a:defRPr sz="1019">
                <a:solidFill>
                  <a:srgbClr val="263746"/>
                </a:solidFill>
              </a:defRPr>
            </a:pPr>
            <a:r>
              <a:t>Restrict access, keep audit trails, strengthen cybersecurity and act quickly.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5074920"/>
            <a:ext cx="10332720" cy="731520"/>
          </a:xfrm>
          <a:prstGeom prst="roundRect">
            <a:avLst/>
          </a:prstGeom>
          <a:solidFill>
            <a:srgbClr val="E8F6F0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>
              <a:defRPr sz="1600" b="1">
                <a:solidFill>
                  <a:srgbClr val="263746"/>
                </a:solidFill>
              </a:defRPr>
            </a:pPr>
            <a:r>
              <a:t>CORE IDEA</a:t>
            </a:r>
            <a:br/>
            <a:r>
              <a:t>An exam should measure preparation—not access to confidential material.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6364224"/>
            <a:ext cx="109728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defRPr sz="720" b="0">
                <a:solidFill>
                  <a:srgbClr val="566574"/>
                </a:solidFill>
              </a:defRPr>
            </a:pPr>
            <a:r>
              <a:t>EMPLOYABILITY SKILLS  •  PAPER LEAKS IN RECENT TIMES  •  2/5  |  General definition; examination-security principles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0040"/>
            <a:ext cx="10908792" cy="841248"/>
          </a:xfrm>
          <a:prstGeom prst="roundRect">
            <a:avLst/>
          </a:prstGeom>
          <a:solidFill>
            <a:srgbClr val="263746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RECENT CASE: NEET-UG 2026</a:t>
            </a:r>
          </a:p>
          <a:p>
            <a:pPr algn="ctr">
              <a:defRPr sz="950">
                <a:solidFill>
                  <a:srgbClr val="CDDAE3"/>
                </a:solidFill>
              </a:defRPr>
            </a:pPr>
            <a:r>
              <a:t>Key dates from the CBI investigation and court process</a:t>
            </a:r>
          </a:p>
        </p:txBody>
      </p:sp>
      <p:pic>
        <p:nvPicPr>
          <p:cNvPr id="4" name="Picture 3" descr="nee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353312"/>
            <a:ext cx="6903720" cy="263347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18120" y="1371600"/>
            <a:ext cx="3520440" cy="1170432"/>
          </a:xfrm>
          <a:prstGeom prst="roundRect">
            <a:avLst/>
          </a:prstGeom>
          <a:solidFill>
            <a:srgbClr val="DEEDF9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defRPr sz="800" b="1">
                <a:solidFill>
                  <a:srgbClr val="566574"/>
                </a:solidFill>
              </a:defRPr>
            </a:pPr>
            <a:r>
              <a:t>03 MAY 2026</a:t>
            </a:r>
          </a:p>
          <a:p>
            <a:pPr>
              <a:defRPr sz="1550" b="1">
                <a:solidFill>
                  <a:srgbClr val="263746"/>
                </a:solidFill>
              </a:defRPr>
            </a:pPr>
            <a:r>
              <a:t>Exam held</a:t>
            </a:r>
          </a:p>
          <a:p>
            <a:pPr>
              <a:defRPr sz="1019">
                <a:solidFill>
                  <a:srgbClr val="263746"/>
                </a:solidFill>
              </a:defRPr>
            </a:pPr>
            <a:r>
              <a:t>NEET-UG 2026 was conducted by NTA.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2743200"/>
            <a:ext cx="3520440" cy="1170432"/>
          </a:xfrm>
          <a:prstGeom prst="roundRect">
            <a:avLst/>
          </a:prstGeom>
          <a:solidFill>
            <a:srgbClr val="DFF1E9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defRPr sz="800" b="1">
                <a:solidFill>
                  <a:srgbClr val="566574"/>
                </a:solidFill>
              </a:defRPr>
            </a:pPr>
            <a:r>
              <a:t>12 MAY 2026</a:t>
            </a:r>
          </a:p>
          <a:p>
            <a:pPr>
              <a:defRPr sz="1550" b="1">
                <a:solidFill>
                  <a:srgbClr val="263746"/>
                </a:solidFill>
              </a:defRPr>
            </a:pPr>
            <a:r>
              <a:t>CBI registers FIR</a:t>
            </a:r>
          </a:p>
          <a:p>
            <a:pPr>
              <a:defRPr sz="1019">
                <a:solidFill>
                  <a:srgbClr val="263746"/>
                </a:solidFill>
              </a:defRPr>
            </a:pPr>
            <a:r>
              <a:t>CBI opened a case over alleged leak and irregularities.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4114800"/>
            <a:ext cx="3520440" cy="1170432"/>
          </a:xfrm>
          <a:prstGeom prst="roundRect">
            <a:avLst/>
          </a:prstGeom>
          <a:solidFill>
            <a:srgbClr val="FAF1D3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defRPr sz="800" b="1">
                <a:solidFill>
                  <a:srgbClr val="566574"/>
                </a:solidFill>
              </a:defRPr>
            </a:pPr>
            <a:r>
              <a:t>28 JUL 2026</a:t>
            </a:r>
          </a:p>
          <a:p>
            <a:pPr>
              <a:defRPr sz="1550" b="1">
                <a:solidFill>
                  <a:srgbClr val="263746"/>
                </a:solidFill>
              </a:defRPr>
            </a:pPr>
            <a:r>
              <a:t>Chargesheet filed</a:t>
            </a:r>
          </a:p>
          <a:p>
            <a:pPr>
              <a:defRPr sz="1019">
                <a:solidFill>
                  <a:srgbClr val="263746"/>
                </a:solidFill>
              </a:defRPr>
            </a:pPr>
            <a:r>
              <a:t>CBI filed a chargesheet naming 13 accused before a Delhi fast-track court.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315968"/>
            <a:ext cx="6812280" cy="950976"/>
          </a:xfrm>
          <a:prstGeom prst="roundRect">
            <a:avLst/>
          </a:prstGeom>
          <a:solidFill>
            <a:srgbClr val="E8F6F0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>
              <a:defRPr sz="1220" b="0">
                <a:solidFill>
                  <a:srgbClr val="263746"/>
                </a:solidFill>
              </a:defRPr>
            </a:pPr>
            <a:r>
              <a:t>STATUS</a:t>
            </a:r>
            <a:br/>
            <a:r>
              <a:t>The case continued through judicial proceedings; allegations and investigative findings are not the same as a final conviction.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6364224"/>
            <a:ext cx="109728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defRPr sz="720" b="0">
                <a:solidFill>
                  <a:srgbClr val="566574"/>
                </a:solidFill>
              </a:defRPr>
            </a:pPr>
            <a:r>
              <a:t>EMPLOYABILITY SKILLS  •  PAPER LEAKS IN RECENT TIMES  •  3/5  |  PIB/CBI releases; The Indian Express, Jul–Sep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0040"/>
            <a:ext cx="10908792" cy="841248"/>
          </a:xfrm>
          <a:prstGeom prst="roundRect">
            <a:avLst/>
          </a:prstGeom>
          <a:solidFill>
            <a:srgbClr val="263746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WHY PAPER LEAKS MATTER</a:t>
            </a:r>
          </a:p>
          <a:p>
            <a:pPr algn="ctr">
              <a:defRPr sz="950">
                <a:solidFill>
                  <a:srgbClr val="CDDAE3"/>
                </a:solidFill>
              </a:defRPr>
            </a:pPr>
            <a:r>
              <a:t>The impact reaches students, institutions and public trust</a:t>
            </a:r>
          </a:p>
        </p:txBody>
      </p:sp>
      <p:pic>
        <p:nvPicPr>
          <p:cNvPr id="4" name="Picture 3" descr="paper_leak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53312"/>
            <a:ext cx="4160520" cy="4343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983480" y="1417320"/>
            <a:ext cx="2926080" cy="1463040"/>
          </a:xfrm>
          <a:prstGeom prst="roundRect">
            <a:avLst/>
          </a:prstGeom>
          <a:solidFill>
            <a:srgbClr val="DEEDF9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defRPr sz="800" b="1">
                <a:solidFill>
                  <a:srgbClr val="566574"/>
                </a:solidFill>
              </a:defRPr>
            </a:pPr>
            <a:r>
              <a:t>STUDENTS</a:t>
            </a:r>
          </a:p>
          <a:p>
            <a:pPr>
              <a:defRPr sz="1550" b="1">
                <a:solidFill>
                  <a:srgbClr val="263746"/>
                </a:solidFill>
              </a:defRPr>
            </a:pPr>
            <a:r>
              <a:t>Fairness</a:t>
            </a:r>
          </a:p>
          <a:p>
            <a:pPr>
              <a:defRPr sz="1019">
                <a:solidFill>
                  <a:srgbClr val="263746"/>
                </a:solidFill>
              </a:defRPr>
            </a:pPr>
            <a:r>
              <a:t>Honest candidates can feel disadvantaged when confidential material is leaked.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417320"/>
            <a:ext cx="2926080" cy="1463040"/>
          </a:xfrm>
          <a:prstGeom prst="roundRect">
            <a:avLst/>
          </a:prstGeom>
          <a:solidFill>
            <a:srgbClr val="DFF1E9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defRPr sz="800" b="1">
                <a:solidFill>
                  <a:srgbClr val="566574"/>
                </a:solidFill>
              </a:defRPr>
            </a:pPr>
            <a:r>
              <a:t>TRUST</a:t>
            </a:r>
          </a:p>
          <a:p>
            <a:pPr>
              <a:defRPr sz="1550" b="1">
                <a:solidFill>
                  <a:srgbClr val="263746"/>
                </a:solidFill>
              </a:defRPr>
            </a:pPr>
            <a:r>
              <a:t>Confidence</a:t>
            </a:r>
          </a:p>
          <a:p>
            <a:pPr>
              <a:defRPr sz="1019">
                <a:solidFill>
                  <a:srgbClr val="263746"/>
                </a:solidFill>
              </a:defRPr>
            </a:pPr>
            <a:r>
              <a:t>Irregularities can weaken confidence in examination systems.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83480" y="3154680"/>
            <a:ext cx="2926080" cy="1463040"/>
          </a:xfrm>
          <a:prstGeom prst="roundRect">
            <a:avLst/>
          </a:prstGeom>
          <a:solidFill>
            <a:srgbClr val="FAF1D3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defRPr sz="800" b="1">
                <a:solidFill>
                  <a:srgbClr val="566574"/>
                </a:solidFill>
              </a:defRPr>
            </a:pPr>
            <a:r>
              <a:t>RESULTS</a:t>
            </a:r>
          </a:p>
          <a:p>
            <a:pPr>
              <a:defRPr sz="1550" b="1">
                <a:solidFill>
                  <a:srgbClr val="263746"/>
                </a:solidFill>
              </a:defRPr>
            </a:pPr>
            <a:r>
              <a:t>Disruption</a:t>
            </a:r>
          </a:p>
          <a:p>
            <a:pPr>
              <a:defRPr sz="1019">
                <a:solidFill>
                  <a:srgbClr val="263746"/>
                </a:solidFill>
              </a:defRPr>
            </a:pPr>
            <a:r>
              <a:t>Cancellations, investigations or re-tests can affect schedules and admissions.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3154680"/>
            <a:ext cx="2926080" cy="1463040"/>
          </a:xfrm>
          <a:prstGeom prst="roundRect">
            <a:avLst/>
          </a:prstGeom>
          <a:solidFill>
            <a:srgbClr val="E9E7F7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defRPr sz="800" b="1">
                <a:solidFill>
                  <a:srgbClr val="566574"/>
                </a:solidFill>
              </a:defRPr>
            </a:pPr>
            <a:r>
              <a:t>SOCIETY</a:t>
            </a:r>
          </a:p>
          <a:p>
            <a:pPr>
              <a:defRPr sz="1550" b="1">
                <a:solidFill>
                  <a:srgbClr val="263746"/>
                </a:solidFill>
              </a:defRPr>
            </a:pPr>
            <a:r>
              <a:t>Merit</a:t>
            </a:r>
          </a:p>
          <a:p>
            <a:pPr>
              <a:defRPr sz="1019">
                <a:solidFill>
                  <a:srgbClr val="263746"/>
                </a:solidFill>
              </a:defRPr>
            </a:pPr>
            <a:r>
              <a:t>Competitive exams influence education and career opportunities.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83480" y="4892040"/>
            <a:ext cx="6172200" cy="777240"/>
          </a:xfrm>
          <a:prstGeom prst="roundRect">
            <a:avLst/>
          </a:prstGeom>
          <a:solidFill>
            <a:srgbClr val="F9E5DD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>
              <a:defRPr sz="1500" b="1">
                <a:solidFill>
                  <a:srgbClr val="263746"/>
                </a:solidFill>
              </a:defRPr>
            </a:pPr>
            <a:r>
              <a:t>EMPLOYABILITY CONNECTION</a:t>
            </a:r>
            <a:br/>
            <a:r>
              <a:t>Integrity • responsibility • accountability • trust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6364224"/>
            <a:ext cx="109728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defRPr sz="720" b="0">
                <a:solidFill>
                  <a:srgbClr val="566574"/>
                </a:solidFill>
              </a:defRPr>
            </a:pPr>
            <a:r>
              <a:t>EMPLOYABILITY SKILLS  •  PAPER LEAKS IN RECENT TIMES  •  4/5  |  Impact summary; current-case facts on Slide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20040"/>
            <a:ext cx="10908792" cy="841248"/>
          </a:xfrm>
          <a:prstGeom prst="roundRect">
            <a:avLst/>
          </a:prstGeom>
          <a:solidFill>
            <a:srgbClr val="263746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HOW CAN PAPER LEAKS BE PREVENTED?</a:t>
            </a:r>
          </a:p>
          <a:p>
            <a:pPr algn="ctr">
              <a:defRPr sz="950">
                <a:solidFill>
                  <a:srgbClr val="CDDAE3"/>
                </a:solidFill>
              </a:defRPr>
            </a:pPr>
            <a:r>
              <a:t>Technology + process discipline + accountability</a:t>
            </a:r>
          </a:p>
        </p:txBody>
      </p:sp>
      <p:pic>
        <p:nvPicPr>
          <p:cNvPr id="4" name="Picture 3" descr="secure_ex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307592"/>
            <a:ext cx="4251960" cy="437083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74920" y="1389888"/>
            <a:ext cx="2926080" cy="1463040"/>
          </a:xfrm>
          <a:prstGeom prst="roundRect">
            <a:avLst/>
          </a:prstGeom>
          <a:solidFill>
            <a:srgbClr val="DEEDF9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defRPr sz="800" b="1">
                <a:solidFill>
                  <a:srgbClr val="566574"/>
                </a:solidFill>
              </a:defRPr>
            </a:pPr>
            <a:r>
              <a:t>01</a:t>
            </a:r>
          </a:p>
          <a:p>
            <a:pPr>
              <a:defRPr sz="1550" b="1">
                <a:solidFill>
                  <a:srgbClr val="263746"/>
                </a:solidFill>
              </a:defRPr>
            </a:pPr>
            <a:r>
              <a:t>Limit access</a:t>
            </a:r>
          </a:p>
          <a:p>
            <a:pPr>
              <a:defRPr sz="1019">
                <a:solidFill>
                  <a:srgbClr val="263746"/>
                </a:solidFill>
              </a:defRPr>
            </a:pPr>
            <a:r>
              <a:t>Only authorized personnel should access confidential exam material.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389888"/>
            <a:ext cx="2926080" cy="1463040"/>
          </a:xfrm>
          <a:prstGeom prst="roundRect">
            <a:avLst/>
          </a:prstGeom>
          <a:solidFill>
            <a:srgbClr val="DFF1E9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defRPr sz="800" b="1">
                <a:solidFill>
                  <a:srgbClr val="566574"/>
                </a:solidFill>
              </a:defRPr>
            </a:pPr>
            <a:r>
              <a:t>02</a:t>
            </a:r>
          </a:p>
          <a:p>
            <a:pPr>
              <a:defRPr sz="1550" b="1">
                <a:solidFill>
                  <a:srgbClr val="263746"/>
                </a:solidFill>
              </a:defRPr>
            </a:pPr>
            <a:r>
              <a:t>Audit activity</a:t>
            </a:r>
          </a:p>
          <a:p>
            <a:pPr>
              <a:defRPr sz="1019">
                <a:solidFill>
                  <a:srgbClr val="263746"/>
                </a:solidFill>
              </a:defRPr>
            </a:pPr>
            <a:r>
              <a:t>Track access, movement, printing and unusual activity.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3127248"/>
            <a:ext cx="2926080" cy="1463040"/>
          </a:xfrm>
          <a:prstGeom prst="roundRect">
            <a:avLst/>
          </a:prstGeom>
          <a:solidFill>
            <a:srgbClr val="FAF1D3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defRPr sz="800" b="1">
                <a:solidFill>
                  <a:srgbClr val="566574"/>
                </a:solidFill>
              </a:defRPr>
            </a:pPr>
            <a:r>
              <a:t>03</a:t>
            </a:r>
          </a:p>
          <a:p>
            <a:pPr>
              <a:defRPr sz="1550" b="1">
                <a:solidFill>
                  <a:srgbClr val="263746"/>
                </a:solidFill>
              </a:defRPr>
            </a:pPr>
            <a:r>
              <a:t>Secure channels</a:t>
            </a:r>
          </a:p>
          <a:p>
            <a:pPr>
              <a:defRPr sz="1019">
                <a:solidFill>
                  <a:srgbClr val="263746"/>
                </a:solidFill>
              </a:defRPr>
            </a:pPr>
            <a:r>
              <a:t>Use strong cybersecurity and controlled communication systems.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3127248"/>
            <a:ext cx="2926080" cy="1463040"/>
          </a:xfrm>
          <a:prstGeom prst="roundRect">
            <a:avLst/>
          </a:prstGeom>
          <a:solidFill>
            <a:srgbClr val="E9E7F7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defRPr sz="800" b="1">
                <a:solidFill>
                  <a:srgbClr val="566574"/>
                </a:solidFill>
              </a:defRPr>
            </a:pPr>
            <a:r>
              <a:t>04</a:t>
            </a:r>
          </a:p>
          <a:p>
            <a:pPr>
              <a:defRPr sz="1550" b="1">
                <a:solidFill>
                  <a:srgbClr val="263746"/>
                </a:solidFill>
              </a:defRPr>
            </a:pPr>
            <a:r>
              <a:t>Act on evidence</a:t>
            </a:r>
          </a:p>
          <a:p>
            <a:pPr>
              <a:defRPr sz="1019">
                <a:solidFill>
                  <a:srgbClr val="263746"/>
                </a:solidFill>
              </a:defRPr>
            </a:pPr>
            <a:r>
              <a:t>Investigate allegations fairly and apply the law where wrongdoing is established.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4882896"/>
            <a:ext cx="6126480" cy="841248"/>
          </a:xfrm>
          <a:prstGeom prst="roundRect">
            <a:avLst/>
          </a:prstGeom>
          <a:solidFill>
            <a:srgbClr val="E8F6F0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>
              <a:defRPr sz="1500" b="1">
                <a:solidFill>
                  <a:srgbClr val="263746"/>
                </a:solidFill>
              </a:defRPr>
            </a:pPr>
            <a:r>
              <a:t>KEY MESSAGE</a:t>
            </a:r>
            <a:br/>
            <a:r>
              <a:t>A secure exam system protects fairness, trust and opportunity.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5806440"/>
            <a:ext cx="6126480" cy="420624"/>
          </a:xfrm>
          <a:prstGeom prst="roundRect">
            <a:avLst/>
          </a:prstGeom>
          <a:solidFill>
            <a:srgbClr val="263746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54864" bIns="54864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THANK YOU  •  ANY QUESTIONS?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6364224"/>
            <a:ext cx="109728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54864" bIns="54864"/>
          <a:lstStyle/>
          <a:p>
            <a:pPr algn="ctr">
              <a:defRPr sz="720" b="0">
                <a:solidFill>
                  <a:srgbClr val="566574"/>
                </a:solidFill>
              </a:defRPr>
            </a:pPr>
            <a:r>
              <a:t>EMPLOYABILITY SKILLS  •  PAPER LEAKS IN RECENT TIMES  •  5/5  |  Exam-security best practices; NEET-UG sources above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